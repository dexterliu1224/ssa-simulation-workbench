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0abdf9a7764259" /><Relationship Type="http://schemas.openxmlformats.org/officeDocument/2006/relationships/extended-properties" Target="/docProps/app.xml" Id="Rdf8f58f1552846ff" /><Relationship Type="http://schemas.openxmlformats.org/officeDocument/2006/relationships/officeDocument" Target="/ppt/presentation.xml" Id="R2ab4b190b99e4d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cc56a32ab34616"/>
  </p:sldMasterIdLst>
  <p:notesMasterIdLst>
    <p:notesMasterId xmlns:r="http://schemas.openxmlformats.org/officeDocument/2006/relationships" r:id="R55a7368250f54776"/>
  </p:notesMasterIdLst>
  <p:sldIdLst>
    <p:sldId xmlns:r="http://schemas.openxmlformats.org/officeDocument/2006/relationships" id="256" r:id="R860a4a9a5da145f6"/>
    <p:sldId xmlns:r="http://schemas.openxmlformats.org/officeDocument/2006/relationships" id="257" r:id="R86f202c2111c464e"/>
    <p:sldId xmlns:r="http://schemas.openxmlformats.org/officeDocument/2006/relationships" id="258" r:id="Rc6246878f68e4e41"/>
    <p:sldId xmlns:r="http://schemas.openxmlformats.org/officeDocument/2006/relationships" id="259" r:id="R6f767dd9a5f34a04"/>
    <p:sldId xmlns:r="http://schemas.openxmlformats.org/officeDocument/2006/relationships" id="260" r:id="Rf412872afdc545b3"/>
    <p:sldId xmlns:r="http://schemas.openxmlformats.org/officeDocument/2006/relationships" id="261" r:id="R3232746c243b4633"/>
    <p:sldId xmlns:r="http://schemas.openxmlformats.org/officeDocument/2006/relationships" id="262" r:id="Rd79121db9c164d1b"/>
    <p:sldId xmlns:r="http://schemas.openxmlformats.org/officeDocument/2006/relationships" id="263" r:id="R375abf84ec3f4238"/>
    <p:sldId xmlns:r="http://schemas.openxmlformats.org/officeDocument/2006/relationships" id="264" r:id="R2e64cc57dc594c14"/>
    <p:sldId xmlns:r="http://schemas.openxmlformats.org/officeDocument/2006/relationships" id="265" r:id="R60147fa427c44426"/>
    <p:sldId xmlns:r="http://schemas.openxmlformats.org/officeDocument/2006/relationships" id="266" r:id="R8e97306637884c66"/>
    <p:sldId xmlns:r="http://schemas.openxmlformats.org/officeDocument/2006/relationships" id="267" r:id="Rbaf39cbb970d4085"/>
    <p:sldId xmlns:r="http://schemas.openxmlformats.org/officeDocument/2006/relationships" id="268" r:id="Ra2038180f80a4f1a"/>
    <p:sldId xmlns:r="http://schemas.openxmlformats.org/officeDocument/2006/relationships" id="269" r:id="R506857d4dcec4aea"/>
    <p:sldId xmlns:r="http://schemas.openxmlformats.org/officeDocument/2006/relationships" id="270" r:id="Re308ab7c5a4c462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284c7b67064fa5" /><Relationship Type="http://schemas.openxmlformats.org/officeDocument/2006/relationships/slideMaster" Target="/ppt/slideMasters/slideMaster1.xml" Id="Rdacc56a32ab34616" /><Relationship Type="http://schemas.openxmlformats.org/officeDocument/2006/relationships/notesMaster" Target="/ppt/notesMasters/notesMaster1.xml" Id="R55a7368250f54776" /><Relationship Type="http://schemas.openxmlformats.org/officeDocument/2006/relationships/presProps" Target="/ppt/presProps.xml" Id="Ref12b46e75194620" /><Relationship Type="http://schemas.openxmlformats.org/officeDocument/2006/relationships/tableStyles" Target="/ppt/tableStyles.xml" Id="R2c0927e7c2d248dc" /><Relationship Type="http://schemas.openxmlformats.org/officeDocument/2006/relationships/slide" Target="/ppt/slides/slide1.xml" Id="R860a4a9a5da145f6" /><Relationship Type="http://schemas.openxmlformats.org/officeDocument/2006/relationships/slide" Target="/ppt/slides/slide2.xml" Id="R86f202c2111c464e" /><Relationship Type="http://schemas.openxmlformats.org/officeDocument/2006/relationships/slide" Target="/ppt/slides/slide3.xml" Id="Rc6246878f68e4e41" /><Relationship Type="http://schemas.openxmlformats.org/officeDocument/2006/relationships/slide" Target="/ppt/slides/slide4.xml" Id="R6f767dd9a5f34a04" /><Relationship Type="http://schemas.openxmlformats.org/officeDocument/2006/relationships/slide" Target="/ppt/slides/slide5.xml" Id="Rf412872afdc545b3" /><Relationship Type="http://schemas.openxmlformats.org/officeDocument/2006/relationships/slide" Target="/ppt/slides/slide6.xml" Id="R3232746c243b4633" /><Relationship Type="http://schemas.openxmlformats.org/officeDocument/2006/relationships/slide" Target="/ppt/slides/slide7.xml" Id="Rd79121db9c164d1b" /><Relationship Type="http://schemas.openxmlformats.org/officeDocument/2006/relationships/slide" Target="/ppt/slides/slide8.xml" Id="R375abf84ec3f4238" /><Relationship Type="http://schemas.openxmlformats.org/officeDocument/2006/relationships/slide" Target="/ppt/slides/slide9.xml" Id="R2e64cc57dc594c14" /><Relationship Type="http://schemas.openxmlformats.org/officeDocument/2006/relationships/slide" Target="/ppt/slides/slide10.xml" Id="R60147fa427c44426" /><Relationship Type="http://schemas.openxmlformats.org/officeDocument/2006/relationships/slide" Target="/ppt/slides/slide11.xml" Id="R8e97306637884c66" /><Relationship Type="http://schemas.openxmlformats.org/officeDocument/2006/relationships/slide" Target="/ppt/slides/slide12.xml" Id="Rbaf39cbb970d4085" /><Relationship Type="http://schemas.openxmlformats.org/officeDocument/2006/relationships/slide" Target="/ppt/slides/slide13.xml" Id="Ra2038180f80a4f1a" /><Relationship Type="http://schemas.openxmlformats.org/officeDocument/2006/relationships/slide" Target="/ppt/slides/slide14.xml" Id="R506857d4dcec4aea" /><Relationship Type="http://schemas.openxmlformats.org/officeDocument/2006/relationships/slide" Target="/ppt/slides/slide15.xml" Id="Re308ab7c5a4c46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9cd460287547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770810c7a543a3" /><Relationship Type="http://schemas.openxmlformats.org/officeDocument/2006/relationships/notesMaster" Target="/ppt/notesMasters/notesMaster1.xml" Id="R3da6d038a2c347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551d8bc95444d8" /><Relationship Type="http://schemas.openxmlformats.org/officeDocument/2006/relationships/notesMaster" Target="/ppt/notesMasters/notesMaster1.xml" Id="Ra202ce17f3eb44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d8b16307d84887" /><Relationship Type="http://schemas.openxmlformats.org/officeDocument/2006/relationships/notesMaster" Target="/ppt/notesMasters/notesMaster1.xml" Id="Rd1d84f8420824a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bba3364c904a07" /><Relationship Type="http://schemas.openxmlformats.org/officeDocument/2006/relationships/notesMaster" Target="/ppt/notesMasters/notesMaster1.xml" Id="R5b4498bc07134fd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bcface7a9e49de" /><Relationship Type="http://schemas.openxmlformats.org/officeDocument/2006/relationships/notesMaster" Target="/ppt/notesMasters/notesMaster1.xml" Id="Rb2583ddf72c749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2f7444e67345cc" /><Relationship Type="http://schemas.openxmlformats.org/officeDocument/2006/relationships/notesMaster" Target="/ppt/notesMasters/notesMaster1.xml" Id="R5a3f51376f9a40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ce61ea4645446b" /><Relationship Type="http://schemas.openxmlformats.org/officeDocument/2006/relationships/notesMaster" Target="/ppt/notesMasters/notesMaster1.xml" Id="Rdbca54f24a3b48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aa9a0f25574dc4" /><Relationship Type="http://schemas.openxmlformats.org/officeDocument/2006/relationships/notesMaster" Target="/ppt/notesMasters/notesMaster1.xml" Id="Reb8de692a34740d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356f5a909b4d34" /><Relationship Type="http://schemas.openxmlformats.org/officeDocument/2006/relationships/notesMaster" Target="/ppt/notesMasters/notesMaster1.xml" Id="R068031a06b2047e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7fc2aec14e41b9" /><Relationship Type="http://schemas.openxmlformats.org/officeDocument/2006/relationships/notesMaster" Target="/ppt/notesMasters/notesMaster1.xml" Id="R9ac3853cddde47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7a73a395974dc4" /><Relationship Type="http://schemas.openxmlformats.org/officeDocument/2006/relationships/notesMaster" Target="/ppt/notesMasters/notesMaster1.xml" Id="R709a8175964944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813d821aba84c50" /><Relationship Type="http://schemas.openxmlformats.org/officeDocument/2006/relationships/notesMaster" Target="/ppt/notesMasters/notesMaster1.xml" Id="R8c936c04c08f49a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cb078383fa48c8" /><Relationship Type="http://schemas.openxmlformats.org/officeDocument/2006/relationships/notesMaster" Target="/ppt/notesMasters/notesMaster1.xml" Id="R879ad8fcea27402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72f7035e80405a" /><Relationship Type="http://schemas.openxmlformats.org/officeDocument/2006/relationships/notesMaster" Target="/ppt/notesMasters/notesMaster1.xml" Id="R655081e08965478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566ae225197438f" /><Relationship Type="http://schemas.openxmlformats.org/officeDocument/2006/relationships/notesMaster" Target="/ppt/notesMasters/notesMaster1.xml" Id="R205789947fac4f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62a12f09c643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493bcf40bb4424" /><Relationship Type="http://schemas.openxmlformats.org/officeDocument/2006/relationships/slideLayout" Target="/ppt/slideLayouts/slideLayout1.xml" Id="Rab07d7565e2047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07d7565e2047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728d2a10144a8" /><Relationship Type="http://schemas.openxmlformats.org/officeDocument/2006/relationships/image" Target="/ppt/media/image.png" Id="Re30f9741fac54628" /><Relationship Type="http://schemas.openxmlformats.org/officeDocument/2006/relationships/notesSlide" Target="/ppt/notesSlides/notesSlide1.xml" Id="R9012b298855d48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7637efdca4d33" /><Relationship Type="http://schemas.openxmlformats.org/officeDocument/2006/relationships/notesSlide" Target="/ppt/notesSlides/notesSlide2.xml" Id="R292faf8d8dc442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ef7c4ca944889" /><Relationship Type="http://schemas.openxmlformats.org/officeDocument/2006/relationships/image" Target="/ppt/media/image2.png" Id="Re703b5d7263242e8" /><Relationship Type="http://schemas.openxmlformats.org/officeDocument/2006/relationships/notesSlide" Target="/ppt/notesSlides/notesSlide3.xml" Id="Re467f66bc1e64b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740ecef3947c2" /><Relationship Type="http://schemas.openxmlformats.org/officeDocument/2006/relationships/image" Target="/ppt/media/image3.png" Id="R3bf8eab8078b4a80" /><Relationship Type="http://schemas.openxmlformats.org/officeDocument/2006/relationships/notesSlide" Target="/ppt/notesSlides/notesSlide4.xml" Id="R71edd53b319347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0753e316445df" /><Relationship Type="http://schemas.openxmlformats.org/officeDocument/2006/relationships/notesSlide" Target="/ppt/notesSlides/notesSlide5.xml" Id="Ra06b26cb959645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cb305d6c5541f0" /><Relationship Type="http://schemas.openxmlformats.org/officeDocument/2006/relationships/image" Target="/ppt/media/image4.png" Id="R635104ec559041b8" /><Relationship Type="http://schemas.openxmlformats.org/officeDocument/2006/relationships/notesSlide" Target="/ppt/notesSlides/notesSlide6.xml" Id="R561196702b8c47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5bd8cafe34445" /><Relationship Type="http://schemas.openxmlformats.org/officeDocument/2006/relationships/image" Target="/ppt/media/image5.png" Id="Re84e0c406ccf4e76" /><Relationship Type="http://schemas.openxmlformats.org/officeDocument/2006/relationships/notesSlide" Target="/ppt/notesSlides/notesSlide7.xml" Id="R84383c44018e45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e61d25fde4c4e" /><Relationship Type="http://schemas.openxmlformats.org/officeDocument/2006/relationships/image" Target="/ppt/media/image6.png" Id="R90f86937ff2340c8" /><Relationship Type="http://schemas.openxmlformats.org/officeDocument/2006/relationships/notesSlide" Target="/ppt/notesSlides/notesSlide8.xml" Id="Reea40ccc0e644c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ff637a3814f03" /><Relationship Type="http://schemas.openxmlformats.org/officeDocument/2006/relationships/notesSlide" Target="/ppt/notesSlides/notesSlide9.xml" Id="R21276df8787944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00f23de124d19" /><Relationship Type="http://schemas.openxmlformats.org/officeDocument/2006/relationships/notesSlide" Target="/ppt/notesSlides/notesSlide10.xml" Id="R90578eed90324d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0eced4c1241aa" /><Relationship Type="http://schemas.openxmlformats.org/officeDocument/2006/relationships/notesSlide" Target="/ppt/notesSlides/notesSlide11.xml" Id="Ra3b814e15c6b4b5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16afcc4b44a3a" /><Relationship Type="http://schemas.openxmlformats.org/officeDocument/2006/relationships/notesSlide" Target="/ppt/notesSlides/notesSlide12.xml" Id="Rae82aa3708994d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9f22c540b4211" /><Relationship Type="http://schemas.openxmlformats.org/officeDocument/2006/relationships/notesSlide" Target="/ppt/notesSlides/notesSlide13.xml" Id="Rd859ee40b673450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ea2e1b9244903" /><Relationship Type="http://schemas.openxmlformats.org/officeDocument/2006/relationships/notesSlide" Target="/ppt/notesSlides/notesSlide14.xml" Id="R2e5713813aac4f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7e7178a6f4422" /><Relationship Type="http://schemas.openxmlformats.org/officeDocument/2006/relationships/image" Target="/ppt/media/image7.png" Id="R92920cc7eca045e2" /><Relationship Type="http://schemas.openxmlformats.org/officeDocument/2006/relationships/notesSlide" Target="/ppt/notesSlides/notesSlide15.xml" Id="Rc966ef6bc84b44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0f9741fac54628"/>
          <a:srcRect xmlns:a="http://schemas.openxmlformats.org/drawingml/2006/main" l="10957" t="0" r="1095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4CB9A-B9A5-4EAC-9D25-FABE108F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476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1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D38346-9189-434D-868B-B1FD0EF5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4476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EEF6FF"/>
                </a:solidFill>
              </a:defRPr>
            </a:pPr>
            <a:r>
              <a:rPr sz="4350" b="1">
                <a:solidFill>
                  <a:srgbClr val="EEF6FF"/>
                </a:solidFill>
              </a:rPr>
              <a:t>火星先锋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08BFE0-B228-4CE7-8260-61370FD6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00D5FF"/>
                </a:solidFill>
              </a:defRPr>
            </a:pPr>
            <a:r>
              <a:rPr sz="2550" b="0">
                <a:solidFill>
                  <a:srgbClr val="00D5FF"/>
                </a:solidFill>
              </a:rPr>
              <a:t>Mars Pioneer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AFCAE-F7D9-4A63-A9F0-CF15345F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9FB2C5"/>
                </a:solidFill>
              </a:defRPr>
            </a:pPr>
            <a:r>
              <a:rPr sz="1800" b="0">
                <a:solidFill>
                  <a:srgbClr val="9FB2C5"/>
                </a:solidFill>
              </a:rPr>
              <a:t>面向初一学生的嵌入式编程与仿生火星探测机器人课程大纲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57A98D-F0DC-4D7C-9129-6A3E6759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293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6FF"/>
                </a:solidFill>
              </a:defRPr>
            </a:pPr>
            <a:r>
              <a:rPr sz="1350" b="0">
                <a:solidFill>
                  <a:srgbClr val="EEF6FF"/>
                </a:solidFill>
              </a:rPr>
              <a:t>15课时 · STM32 · 麦克纳姆轮 · 机械臂 · 传感器 · 模拟赛事</a:t>
            </a:r>
          </a:p>
        </p:txBody>
      </p:sp>
    </p:spTree>
    <p:extLst>
      <p:ext uri="{BB962C8B-B14F-4D97-AF65-F5344CB8AC3E}">
        <p14:creationId xmlns:p14="http://schemas.microsoft.com/office/powerpoint/2010/main" val="17995520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ABCBE3-76E7-49A1-9007-6EAB94E8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5FF"/>
                </a:solidFill>
              </a:defRPr>
            </a:pPr>
            <a:r>
              <a:rPr sz="1200" b="1">
                <a:solidFill>
                  <a:srgbClr val="00D5FF"/>
                </a:solidFill>
              </a:rPr>
              <a:t>MARS PIONEER | 初一航天机器人课程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B2902-20D6-46D3-A704-886DCEFC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6FF"/>
                </a:solidFill>
              </a:defRPr>
            </a:pPr>
            <a:r>
              <a:rPr sz="3000" b="1">
                <a:solidFill>
                  <a:srgbClr val="EEF6FF"/>
                </a:solidFill>
              </a:rPr>
              <a:t>课程定位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EC9ED-0377-47C7-8B39-D313A337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2C5"/>
                </a:solidFill>
              </a:defRPr>
            </a:pPr>
            <a:r>
              <a:rPr sz="1500" b="0">
                <a:solidFill>
                  <a:srgbClr val="9FB2C5"/>
                </a:solidFill>
              </a:rPr>
              <a:t>把“火星探测任务”拆成初一学生能完成的工程挑战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DBB74-42FD-46A2-AF4F-D8012781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34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F5FFF-D341-41EA-A997-842A511D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7"/>
                </a:solidFill>
              </a:defRPr>
            </a:pPr>
            <a:r>
              <a:rPr sz="975" b="0">
                <a:solidFill>
                  <a:srgbClr val="647487"/>
                </a:solidFill>
              </a:rPr>
              <a:t>火星先锋课程大纲 ·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0DB89-352F-4DF3-B2EE-C1DCC786C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3812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8FF724-C424-486B-ABFB-C6FB5663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D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C229F-026E-4521-A627-C3F8757F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对象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A46AF4-421F-4F95-9A9A-BD6FC4E5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初一年级学生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有图形化/基础编程经验更佳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以小组协作为主要学习方式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35DFA6-219D-416C-BBAF-1DB179D6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33600"/>
            <a:ext cx="23812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4DA43E-1AEE-424E-BD50-4C18E04E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336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6F"/>
          </a:solidFill>
          <a:ln xmlns:a="http://schemas.openxmlformats.org/drawingml/2006/main" w="0">
            <a:solidFill>
              <a:srgbClr val="2ED6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1D60D-B304-4097-A252-D4989546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课时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610CED-FDF8-4573-8DE8-12C416A2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860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共15节课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每节60分钟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14节核心学习 + 1节模拟赛事/展示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FDE584-1A3F-4CE4-90CC-E28F5215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33600"/>
            <a:ext cx="23812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942623-1189-44A3-A2D8-2217376F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336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26E68-4273-40A5-B601-25F363B9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平台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F1FA8-4F58-40D1-8BDB-5B23311BA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STM32主控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全向底盘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机械臂与多传感器系统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FBA19D-3ED9-4B37-9544-67943745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33600"/>
            <a:ext cx="2381250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D7E8B-E66A-4EAB-BD5F-A2F6D8D7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336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8C7A2B-6DBF-4DFF-A120-04FA9827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产出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D5415-8E5E-4F11-B20B-B0787BBE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86050"/>
            <a:ext cx="2000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能跑、能看、能抓、能判断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完成一次火星任务式综合演示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F5535B-337B-4A11-A445-EEA0E23E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EF6FF"/>
                </a:solidFill>
              </a:defRPr>
            </a:pPr>
            <a:r>
              <a:rPr sz="2100" b="1">
                <a:solidFill>
                  <a:srgbClr val="EEF6FF"/>
                </a:solidFill>
              </a:rPr>
              <a:t>课程主线：认识硬件 → 控制运动 → 感知环境 → 完成任务 → 复盘表达</a:t>
            </a:r>
          </a:p>
        </p:txBody>
      </p:sp>
    </p:spTree>
    <p:extLst>
      <p:ext uri="{BB962C8B-B14F-4D97-AF65-F5344CB8AC3E}">
        <p14:creationId xmlns:p14="http://schemas.microsoft.com/office/powerpoint/2010/main" val="9213701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D48EA5-53C5-4337-BC88-9CCD3316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5FF"/>
                </a:solidFill>
              </a:defRPr>
            </a:pPr>
            <a:r>
              <a:rPr sz="1200" b="1">
                <a:solidFill>
                  <a:srgbClr val="00D5FF"/>
                </a:solidFill>
              </a:rPr>
              <a:t>MARS PIONEER | 初一航天机器人课程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08229-0DDF-4406-B4A4-CF7F8F99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6FF"/>
                </a:solidFill>
              </a:defRPr>
            </a:pPr>
            <a:r>
              <a:rPr sz="3000" b="1">
                <a:solidFill>
                  <a:srgbClr val="EEF6FF"/>
                </a:solidFill>
              </a:rPr>
              <a:t>初一适配原则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17F57-BC2B-4182-B23F-F42812D4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2C5"/>
                </a:solidFill>
              </a:defRPr>
            </a:pPr>
            <a:r>
              <a:rPr sz="1500" b="0">
                <a:solidFill>
                  <a:srgbClr val="9FB2C5"/>
                </a:solidFill>
              </a:rPr>
              <a:t>保留真实工程味道，但降低数学和代码门槛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FC4AF-7ED6-41F1-AF28-249040EA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34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686C96-8494-499D-85FD-49C01FCC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7"/>
                </a:solidFill>
              </a:defRPr>
            </a:pPr>
            <a:r>
              <a:rPr sz="975" b="0">
                <a:solidFill>
                  <a:srgbClr val="647487"/>
                </a:solidFill>
              </a:rPr>
              <a:t>火星先锋课程大纲 · 03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3b5d7263242e8"/>
          <a:srcRect xmlns:a="http://schemas.openxmlformats.org/drawingml/2006/main" l="10465" t="0" r="104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200150"/>
            <a:ext cx="485775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ADF2D-7F55-45A1-A391-96BD2AB8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3340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A92E8-4627-4D1B-AA48-83F56F39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D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F4470-5AB3-4F1B-9BCE-A50988A0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先任务，后公式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B6D1F-F0FF-4F95-B90E-062C196C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95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先让小车前进、横移、转向，再回头解释轮子为什么这样转。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AFD4FC-6424-4EEE-9F88-B911C618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53340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9C067-2540-498F-BFF6-EC82A1F45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6F"/>
          </a:solidFill>
          <a:ln xmlns:a="http://schemas.openxmlformats.org/drawingml/2006/main" w="0">
            <a:solidFill>
              <a:srgbClr val="2ED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3346F-41C8-47D4-BCD3-6DB8997B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先调用，再理解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148FC-8D72-47C5-A45A-1496F355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95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先用 SpaceCommon 库完成基本控制，再逐步拆开 GPIO、PWM、IIC、SPI。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6C54B-6515-4BF7-8933-AF0D105F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334000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7F3390-B79B-4544-92C5-3B80B340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0ED56-AFD7-4B99-B613-382CC26C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先现象，后调参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90E25-D68E-4E0B-A168-79765218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495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巡线、机械臂、避障都用可观察现象引入，通过测试记录理解参数。</a:t>
            </a:r>
          </a:p>
        </p:txBody>
      </p:sp>
    </p:spTree>
    <p:extLst>
      <p:ext uri="{BB962C8B-B14F-4D97-AF65-F5344CB8AC3E}">
        <p14:creationId xmlns:p14="http://schemas.microsoft.com/office/powerpoint/2010/main" val="14290649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2BE216-B8E6-4F2E-8AB7-214EC5A1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5FF"/>
                </a:solidFill>
              </a:defRPr>
            </a:pPr>
            <a:r>
              <a:rPr sz="1200" b="1">
                <a:solidFill>
                  <a:srgbClr val="00D5FF"/>
                </a:solidFill>
              </a:rPr>
              <a:t>MARS PIONEER | 初一航天机器人课程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6A48C-1D7E-4468-8624-4A39FE79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6FF"/>
                </a:solidFill>
              </a:defRPr>
            </a:pPr>
            <a:r>
              <a:rPr sz="3000" b="1">
                <a:solidFill>
                  <a:srgbClr val="EEF6FF"/>
                </a:solidFill>
              </a:rPr>
              <a:t>硬件平台概览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5E1B1-B7DD-4290-89A5-ACBA2E94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2C5"/>
                </a:solidFill>
              </a:defRPr>
            </a:pPr>
            <a:r>
              <a:rPr sz="1500" b="0">
                <a:solidFill>
                  <a:srgbClr val="9FB2C5"/>
                </a:solidFill>
              </a:rPr>
              <a:t>三层架构支撑从单模块到系统集成的学习路径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24630-5A27-4A27-9872-C2B0AD6F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34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DD38B-0B36-4986-9C6B-DC618567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7"/>
                </a:solidFill>
              </a:defRPr>
            </a:pPr>
            <a:r>
              <a:rPr sz="975" b="0">
                <a:solidFill>
                  <a:srgbClr val="647487"/>
                </a:solidFill>
              </a:rPr>
              <a:t>火星先锋课程大纲 · 04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f8eab8078b4a80"/>
          <a:srcRect xmlns:a="http://schemas.openxmlformats.org/drawingml/2006/main" l="4016" t="0" r="40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257300"/>
            <a:ext cx="5162550" cy="4210050"/>
          </a:xfrm>
          <a:prstGeom xmlns:a="http://schemas.openxmlformats.org/drawingml/2006/main" prst="roundRect">
            <a:avLst>
              <a:gd name="adj" fmla="val 271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FC11A3-5954-4C57-B58A-3C0C6734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6101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8E376-3A0D-450C-8040-AFA11577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D5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FBBD9-780C-4618-8B76-12147E25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上层：控制与交互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9BBA8-0192-408B-9B77-3161E453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4229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STM32主控、蓝牙通信、PS手柄、OLED显示、RGB状态灯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DEFF9-C7C1-4DDF-B49B-6C0591B9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6101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1ECF2-1F0D-4CB1-88A3-AF2B89AB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6F"/>
          </a:solidFill>
          <a:ln xmlns:a="http://schemas.openxmlformats.org/drawingml/2006/main" w="0">
            <a:solidFill>
              <a:srgbClr val="2ED66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21075-AF78-4C79-B062-AA8FDFEC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中层：环境与运动感知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FBBA1-C4C9-442D-9231-6A4D9AEE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4229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8路红外巡线、超声波、光亮、温湿度等传感器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D0E57-4176-46BF-B1E8-7077FE46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6101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9059B-735B-423D-A96A-548EB33C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7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C7E31-6446-47F5-9CD7-B0FD2A41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底层：执行与供电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E3E53-9ED4-4CF3-818F-95657DAD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4229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四轮独立电机、麦克纳姆轮、机械臂舵机、双路供电</a:t>
            </a:r>
          </a:p>
        </p:txBody>
      </p:sp>
    </p:spTree>
    <p:extLst>
      <p:ext uri="{BB962C8B-B14F-4D97-AF65-F5344CB8AC3E}">
        <p14:creationId xmlns:p14="http://schemas.microsoft.com/office/powerpoint/2010/main" val="8123217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EEEE75-514A-476E-8A3B-F2509B0B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5FF"/>
                </a:solidFill>
              </a:defRPr>
            </a:pPr>
            <a:r>
              <a:rPr sz="1200" b="1">
                <a:solidFill>
                  <a:srgbClr val="00D5FF"/>
                </a:solidFill>
              </a:rPr>
              <a:t>MARS PIONEER | 初一航天机器人课程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601C3D-6515-4258-B038-A1BE0B24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6FF"/>
                </a:solidFill>
              </a:defRPr>
            </a:pPr>
            <a:r>
              <a:rPr sz="3000" b="1">
                <a:solidFill>
                  <a:srgbClr val="EEF6FF"/>
                </a:solidFill>
              </a:rPr>
              <a:t>课程能力地图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FC51E-B6A0-41CA-86AD-A3825A39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2C5"/>
                </a:solidFill>
              </a:defRPr>
            </a:pPr>
            <a:r>
              <a:rPr sz="1500" b="0">
                <a:solidFill>
                  <a:srgbClr val="9FB2C5"/>
                </a:solidFill>
              </a:rPr>
              <a:t>五个阶段从“会操作”走向“会设计、会解释”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66D50-7FED-4D82-8E9D-FC54A13A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34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BF13B-C8D7-4819-BC0E-8A5E2B8B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7"/>
                </a:solidFill>
              </a:defRPr>
            </a:pPr>
            <a:r>
              <a:rPr sz="975" b="0">
                <a:solidFill>
                  <a:srgbClr val="647487"/>
                </a:solidFill>
              </a:rPr>
              <a:t>火星先锋课程大纲 ·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21CA7-494D-414E-8A92-47C5D017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D5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EDF13-A1AE-44C3-9237-0A02EF93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81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70B13"/>
                </a:solidFill>
              </a:defRPr>
            </a:pPr>
            <a:r>
              <a:rPr sz="2700" b="1">
                <a:solidFill>
                  <a:srgbClr val="070B13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752744-DB3B-48DE-854F-E4D0B615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479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45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1CF9E-C211-4EF8-81F5-DE10EA8E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18669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8FE74C-4942-4906-8FFB-D989A4B6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D5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20AD51-49DF-4976-BC99-68B42988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433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基础夯实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25D7EE-5D75-49C9-9153-CF816294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24300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L01-L03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开发环境、结构认知、全向移动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EB382C-3C64-4340-AAF8-DE383963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D66F"/>
          </a:solidFill>
          <a:ln xmlns:a="http://schemas.openxmlformats.org/drawingml/2006/main" w="0">
            <a:solidFill>
              <a:srgbClr val="2ED6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5C4B3-4D14-4950-9AA8-4C6C7217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81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70B13"/>
                </a:solidFill>
              </a:defRPr>
            </a:pPr>
            <a:r>
              <a:rPr sz="2700" b="1">
                <a:solidFill>
                  <a:srgbClr val="070B13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A2035-8A0C-45A2-8940-B6CE8FF6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479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45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8F279-F407-442B-A5DC-20A23E3D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71850"/>
            <a:ext cx="18669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CA925-3D30-4227-BA1F-90DE93D7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718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6F"/>
          </a:solidFill>
          <a:ln xmlns:a="http://schemas.openxmlformats.org/drawingml/2006/main" w="0">
            <a:solidFill>
              <a:srgbClr val="2ED6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4DFFE-6359-4B18-AF23-1F78CFBA1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433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遥操作控制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07C2C4-E733-4015-B241-F0B8A0EB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24300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L04-L06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蓝牙遥控、机械臂、采样协同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F3965E-8F21-4885-A63F-DBB9E169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8BCEB-6144-4F7A-AC6E-771B496E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81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70B13"/>
                </a:solidFill>
              </a:defRPr>
            </a:pPr>
            <a:r>
              <a:rPr sz="2700" b="1">
                <a:solidFill>
                  <a:srgbClr val="070B13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94F01E-781E-4F58-AAB3-46FCB564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45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0A53B0-CB57-4272-BAA2-52BD276C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18669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C04FF7-4D0B-4C55-BF84-5F214091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ACBC1-0612-4A7F-B71A-255141B8D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433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环境感知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B87A25-E174-4B75-AF28-1F4AE51D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24300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L07-L09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环境监控、巡线、状态机切换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6BF134-6558-4A9E-B18D-2EC9FDBC3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D5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5FDFB7-7E9A-481D-B328-DA762F6D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70B13"/>
                </a:solidFill>
              </a:defRPr>
            </a:pPr>
            <a:r>
              <a:rPr sz="2700" b="1">
                <a:solidFill>
                  <a:srgbClr val="070B13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5BF8CD-4957-443F-A4F0-D1681C8E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455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16DC8F-95CD-4D5D-B760-27106315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71850"/>
            <a:ext cx="18669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DDC869-CA3E-4841-BBE6-C20BB8DA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718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D5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48EA3D-7D0D-4988-813F-456ED26F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5433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综合实战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79B9D9-04A2-4C8D-91A4-3D29EA3D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24300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L10-L13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能源抢夺、越野、运输、Debug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6BFD00-9D7B-4824-B2C9-0939BFA4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479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D66F"/>
          </a:solidFill>
          <a:ln xmlns:a="http://schemas.openxmlformats.org/drawingml/2006/main" w="0">
            <a:solidFill>
              <a:srgbClr val="2ED66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8528EA-5CE8-4560-B4C8-8B81D9BA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381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070B13"/>
                </a:solidFill>
              </a:defRPr>
            </a:pPr>
            <a:r>
              <a:rPr sz="2700" b="1">
                <a:solidFill>
                  <a:srgbClr val="070B13"/>
                </a:solidFill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2A73D1-D085-42A9-AFAE-103D93DA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71850"/>
            <a:ext cx="18669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AE35EF-F3F0-4876-BBF6-B2E62A72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718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6F"/>
          </a:solidFill>
          <a:ln xmlns:a="http://schemas.openxmlformats.org/drawingml/2006/main" w="0">
            <a:solidFill>
              <a:srgbClr val="2ED66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F9B49A-65B1-4E87-905F-9F2FBDC6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5433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模拟赛事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38262C-38E2-49E9-AF32-2FA6A127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24300"/>
            <a:ext cx="1485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L14-L15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计时赛、工程日志、路演答辩</a:t>
            </a:r>
          </a:p>
        </p:txBody>
      </p:sp>
    </p:spTree>
    <p:extLst>
      <p:ext uri="{BB962C8B-B14F-4D97-AF65-F5344CB8AC3E}">
        <p14:creationId xmlns:p14="http://schemas.microsoft.com/office/powerpoint/2010/main" val="7681381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C7B50C-F35C-4E13-8E6C-6229430E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5FF"/>
                </a:solidFill>
              </a:defRPr>
            </a:pPr>
            <a:r>
              <a:rPr sz="1200" b="1">
                <a:solidFill>
                  <a:srgbClr val="00D5FF"/>
                </a:solidFill>
              </a:rPr>
              <a:t>MARS PIONEER | 初一航天机器人课程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0EAB9-4064-4780-A5F3-1A8DE362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6FF"/>
                </a:solidFill>
              </a:defRPr>
            </a:pPr>
            <a:r>
              <a:rPr sz="3000" b="1">
                <a:solidFill>
                  <a:srgbClr val="EEF6FF"/>
                </a:solidFill>
              </a:rPr>
              <a:t>第一章：基础夯实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DF6FDA-A7C6-4E76-A1FB-A372B389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2C5"/>
                </a:solidFill>
              </a:defRPr>
            </a:pPr>
            <a:r>
              <a:rPr sz="1500" b="0">
                <a:solidFill>
                  <a:srgbClr val="9FB2C5"/>
                </a:solidFill>
              </a:rPr>
              <a:t>硬件认知与运动学入门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2BD3D-5D64-4876-A53C-30F44D6E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34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F4BF6-D888-443D-BA8D-60813C8E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7"/>
                </a:solidFill>
              </a:defRPr>
            </a:pPr>
            <a:r>
              <a:rPr sz="975" b="0">
                <a:solidFill>
                  <a:srgbClr val="647487"/>
                </a:solidFill>
              </a:rPr>
              <a:t>火星先锋课程大纲 · 06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104ec559041b8"/>
          <a:srcRect xmlns:a="http://schemas.openxmlformats.org/drawingml/2006/main" l="10807" t="0" r="1080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1238250"/>
            <a:ext cx="466725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BFD09-0E71-4DEF-879B-12702E58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L01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46659-A3C1-477D-8404-2CA55F507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33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航天史与开发环境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11E3D3-EDAA-4B2C-B591-BF05ED87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336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认识太空车与STM32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2E1AA4-0493-4AE5-A072-9D9C9EFC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D5FF"/>
                </a:solidFill>
              </a:defRPr>
            </a:pPr>
            <a:r>
              <a:rPr sz="1125" b="0">
                <a:solidFill>
                  <a:srgbClr val="00D5FF"/>
                </a:solidFill>
              </a:rPr>
              <a:t>作品：完成第一个可运行工程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B097D0-8CB6-4DB1-87D2-4740067C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63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A23B1-B8D1-437C-916B-DCAD4551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L02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CB8A9B-793B-4004-992B-4DF57BA2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95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结构与数据显控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864538-AD2C-4FC0-8915-8BFEAC19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956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IIC与OLED显示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58B280-F0BC-444A-8DFA-3FA4C3B6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D5FF"/>
                </a:solidFill>
              </a:defRPr>
            </a:pPr>
            <a:r>
              <a:rPr sz="1125" b="0">
                <a:solidFill>
                  <a:srgbClr val="00D5FF"/>
                </a:solidFill>
              </a:rPr>
              <a:t>作品：做出“火星仪表盘”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31E7FD-6F2C-403B-B7FC-0CFF30E9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563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88DD73-4460-442D-9AB8-B88013D3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L03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5EFA3-4D56-4645-8B27-1E3989B4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57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麦克纳姆轮全向移动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0A568-51C3-4616-BBDB-82BBCDBC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576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四轮方向组合与PWM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9687AA-1DD0-4F9E-91B6-9C8EFDBA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24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0D5FF"/>
                </a:solidFill>
              </a:defRPr>
            </a:pPr>
            <a:r>
              <a:rPr sz="1125" b="0">
                <a:solidFill>
                  <a:srgbClr val="00D5FF"/>
                </a:solidFill>
              </a:rPr>
              <a:t>作品：小车走正方形并回到起点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672B8F-0931-4371-A8CE-F358083F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563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98245B-19CE-4878-9E3F-472B4A16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552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5A1F"/>
                </a:solidFill>
              </a:defRPr>
            </a:pPr>
            <a:r>
              <a:rPr sz="1575" b="1">
                <a:solidFill>
                  <a:srgbClr val="FF5A1F"/>
                </a:solidFill>
              </a:rPr>
              <a:t>初一处理方式：用“轮子方向表”和实测现象代替复杂矩阵推导。</a:t>
            </a:r>
          </a:p>
        </p:txBody>
      </p:sp>
    </p:spTree>
    <p:extLst>
      <p:ext uri="{BB962C8B-B14F-4D97-AF65-F5344CB8AC3E}">
        <p14:creationId xmlns:p14="http://schemas.microsoft.com/office/powerpoint/2010/main" val="2658038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A688E0-A9BE-4CE7-9C1B-4E04461C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5FF"/>
                </a:solidFill>
              </a:defRPr>
            </a:pPr>
            <a:r>
              <a:rPr sz="1200" b="1">
                <a:solidFill>
                  <a:srgbClr val="00D5FF"/>
                </a:solidFill>
              </a:rPr>
              <a:t>MARS PIONEER | 初一航天机器人课程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49520-21EA-46F0-A718-AB0E7013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6FF"/>
                </a:solidFill>
              </a:defRPr>
            </a:pPr>
            <a:r>
              <a:rPr sz="3000" b="1">
                <a:solidFill>
                  <a:srgbClr val="EEF6FF"/>
                </a:solidFill>
              </a:rPr>
              <a:t>第二章：遥操作与执行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0B60B-F35F-464C-BA46-66FBA449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2C5"/>
                </a:solidFill>
              </a:defRPr>
            </a:pPr>
            <a:r>
              <a:rPr sz="1500" b="0">
                <a:solidFill>
                  <a:srgbClr val="9FB2C5"/>
                </a:solidFill>
              </a:rPr>
              <a:t>从手柄控制到机械臂采样任务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B1838-E607-4195-8B47-7818EBA6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34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20958-0D18-48D2-886A-6748F41D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7"/>
                </a:solidFill>
              </a:defRPr>
            </a:pPr>
            <a:r>
              <a:rPr sz="975" b="0">
                <a:solidFill>
                  <a:srgbClr val="647487"/>
                </a:solidFill>
              </a:rPr>
              <a:t>火星先锋课程大纲 · 07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e0c406ccf4e76"/>
          <a:srcRect xmlns:a="http://schemas.openxmlformats.org/drawingml/2006/main" l="12443" t="0" r="124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10350" y="1200150"/>
            <a:ext cx="4991100" cy="4152900"/>
          </a:xfrm>
          <a:prstGeom xmlns:a="http://schemas.openxmlformats.org/drawingml/2006/main" prst="roundRect">
            <a:avLst>
              <a:gd name="adj" fmla="val 275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7579E-6732-4DA9-9348-3FDC1AC3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66F"/>
                </a:solidFill>
              </a:defRPr>
            </a:pPr>
            <a:r>
              <a:rPr sz="1350" b="1">
                <a:solidFill>
                  <a:srgbClr val="2ED66F"/>
                </a:solidFill>
              </a:rPr>
              <a:t>L04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4F49FD-EBF1-4F13-97A3-C12573D3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33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蓝牙通讯与底盘遥控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EF470-481C-4370-9714-A512F836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336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手柄数据映射到轮速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4A9BF7-E767-4DCC-95EB-6EFD94B4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ED66F"/>
                </a:solidFill>
              </a:defRPr>
            </a:pPr>
            <a:r>
              <a:rPr sz="1125" b="0">
                <a:solidFill>
                  <a:srgbClr val="2ED66F"/>
                </a:solidFill>
              </a:rPr>
              <a:t>作品：实现底盘遥控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7471CA-10BB-4896-AB5B-5A264C4E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63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3E72A-97FC-4597-9DAD-16E3C63B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66F"/>
                </a:solidFill>
              </a:defRPr>
            </a:pPr>
            <a:r>
              <a:rPr sz="1350" b="1">
                <a:solidFill>
                  <a:srgbClr val="2ED66F"/>
                </a:solidFill>
              </a:rPr>
              <a:t>L05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55129-C211-4FBD-B220-412C470A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95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机械臂抓取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A44B2-483D-4E13-BD79-04F0FB5A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956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舵机角度与预设姿态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ED6B1E-0BA6-42B0-A044-6DBAD857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ED66F"/>
                </a:solidFill>
              </a:defRPr>
            </a:pPr>
            <a:r>
              <a:rPr sz="1125" b="0">
                <a:solidFill>
                  <a:srgbClr val="2ED66F"/>
                </a:solidFill>
              </a:rPr>
              <a:t>作品：完成连续抓放任务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75A04B-432D-4F32-815E-2AB0BBE5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563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CA5A2-8235-4FB2-8C10-699E7FBB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66F"/>
                </a:solidFill>
              </a:defRPr>
            </a:pPr>
            <a:r>
              <a:rPr sz="1350" b="1">
                <a:solidFill>
                  <a:srgbClr val="2ED66F"/>
                </a:solidFill>
              </a:rPr>
              <a:t>L06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D159B-68E4-4F46-91E3-D8D37C87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57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采样空间协同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A895E-E70D-4542-9829-4C91CED5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576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底盘粗定位+机械臂精抓取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BF11C9-ED0B-4205-B771-D1C186BE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24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ED66F"/>
                </a:solidFill>
              </a:defRPr>
            </a:pPr>
            <a:r>
              <a:rPr sz="1125" b="0">
                <a:solidFill>
                  <a:srgbClr val="2ED66F"/>
                </a:solidFill>
              </a:rPr>
              <a:t>作品：完成月壤采样流程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D7FBC2-52E9-4E74-957F-53298FBA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563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1738E1-A982-43FF-9565-43AAC283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533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2C5"/>
                </a:solidFill>
              </a:defRPr>
            </a:pPr>
            <a:r>
              <a:rPr sz="1500" b="0">
                <a:solidFill>
                  <a:srgbClr val="9FB2C5"/>
                </a:solidFill>
              </a:rPr>
              <a:t>关键问题：信号中断、小车震动、机械臂多解，都是工程系统必须处理的真实问题。</a:t>
            </a:r>
          </a:p>
        </p:txBody>
      </p:sp>
    </p:spTree>
    <p:extLst>
      <p:ext uri="{BB962C8B-B14F-4D97-AF65-F5344CB8AC3E}">
        <p14:creationId xmlns:p14="http://schemas.microsoft.com/office/powerpoint/2010/main" val="183748572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564111-B685-4164-9BA9-7D75C4C0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5FF"/>
                </a:solidFill>
              </a:defRPr>
            </a:pPr>
            <a:r>
              <a:rPr sz="1200" b="1">
                <a:solidFill>
                  <a:srgbClr val="00D5FF"/>
                </a:solidFill>
              </a:rPr>
              <a:t>MARS PIONEER | 初一航天机器人课程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0F30C-348F-4BE3-89E7-31A2F289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6FF"/>
                </a:solidFill>
              </a:defRPr>
            </a:pPr>
            <a:r>
              <a:rPr sz="3000" b="1">
                <a:solidFill>
                  <a:srgbClr val="EEF6FF"/>
                </a:solidFill>
              </a:rPr>
              <a:t>第三章：环境感知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2813E-1956-49E3-B245-AC43E359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2C5"/>
                </a:solidFill>
              </a:defRPr>
            </a:pPr>
            <a:r>
              <a:rPr sz="1500" b="0">
                <a:solidFill>
                  <a:srgbClr val="9FB2C5"/>
                </a:solidFill>
              </a:rPr>
              <a:t>自动驾驶入门：让机器人看见、判断、切换模式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BA817-A394-4F60-AC64-09090D9D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34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4EC62-9D18-4D53-9EDD-A108B557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7"/>
                </a:solidFill>
              </a:defRPr>
            </a:pPr>
            <a:r>
              <a:rPr sz="975" b="0">
                <a:solidFill>
                  <a:srgbClr val="647487"/>
                </a:solidFill>
              </a:rPr>
              <a:t>火星先锋课程大纲 · 08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86937ff2340c8"/>
          <a:srcRect xmlns:a="http://schemas.openxmlformats.org/drawingml/2006/main" l="7813" t="0" r="78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1162050"/>
            <a:ext cx="514350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E5AD9-A782-4D9B-9AB3-194B438D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1F"/>
                </a:solidFill>
              </a:defRPr>
            </a:pPr>
            <a:r>
              <a:rPr sz="1350" b="1">
                <a:solidFill>
                  <a:srgbClr val="FF5A1F"/>
                </a:solidFill>
              </a:rPr>
              <a:t>L07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2A674-D055-4508-9AB4-DBFA7BD7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133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环境监控预警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55AFC-DC4D-4E12-A47C-1D35242D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336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温湿度、光照、多级报警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2E2698-F3B5-4557-83B6-A7D08BB68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00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5A1F"/>
                </a:solidFill>
              </a:defRPr>
            </a:pPr>
            <a:r>
              <a:rPr sz="1125" b="0">
                <a:solidFill>
                  <a:srgbClr val="FF5A1F"/>
                </a:solidFill>
              </a:rPr>
              <a:t>作品：环境监控面板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EB616-4FE5-4994-98B5-20F3D739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563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D5D93-4E29-45DE-BBE9-95C6D129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1F"/>
                </a:solidFill>
              </a:defRPr>
            </a:pPr>
            <a:r>
              <a:rPr sz="1350" b="1">
                <a:solidFill>
                  <a:srgbClr val="FF5A1F"/>
                </a:solidFill>
              </a:rPr>
              <a:t>L08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1F02E1-1B1E-41E3-8021-42CAA00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95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颜色识别与巡线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376D99-2656-45E3-ABB5-D1CDFECD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956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红外/颜色传感器+基础PID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AD3DD-0143-4A21-963B-311265E4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5A1F"/>
                </a:solidFill>
              </a:defRPr>
            </a:pPr>
            <a:r>
              <a:rPr sz="1125" b="0">
                <a:solidFill>
                  <a:srgbClr val="FF5A1F"/>
                </a:solidFill>
              </a:rPr>
              <a:t>作品：稳定通过弯道赛道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9D314-3BEC-45C1-914C-64F1B28B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563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707200-F25F-46EC-8234-10201163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1F"/>
                </a:solidFill>
              </a:defRPr>
            </a:pPr>
            <a:r>
              <a:rPr sz="1350" b="1">
                <a:solidFill>
                  <a:srgbClr val="FF5A1F"/>
                </a:solidFill>
              </a:rPr>
              <a:t>L09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012B0C-1502-46C4-AB4C-CAB94FED6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57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复杂路况与切换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B7D766-B15E-42A8-91D4-CF569A5A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576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有限状态机与路标识别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69E2E-C9DF-4AF5-AEB8-FCA84EAC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243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5A1F"/>
                </a:solidFill>
              </a:defRPr>
            </a:pPr>
            <a:r>
              <a:rPr sz="1125" b="0">
                <a:solidFill>
                  <a:srgbClr val="FF5A1F"/>
                </a:solidFill>
              </a:rPr>
              <a:t>作品：实现人机热切换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1AFE8C-507C-4053-93C8-A184CBB5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563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132C50-6AF2-4389-8D39-8AAE3729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81550"/>
            <a:ext cx="521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5A1F"/>
                </a:solidFill>
              </a:defRPr>
            </a:pPr>
            <a:r>
              <a:rPr sz="1500" b="1">
                <a:solidFill>
                  <a:srgbClr val="FF5A1F"/>
                </a:solidFill>
              </a:rPr>
              <a:t>初一处理方式：PID只讲“偏得越多，纠得越多；变化越快，提前刹一刹”。</a:t>
            </a:r>
          </a:p>
        </p:txBody>
      </p:sp>
    </p:spTree>
    <p:extLst>
      <p:ext uri="{BB962C8B-B14F-4D97-AF65-F5344CB8AC3E}">
        <p14:creationId xmlns:p14="http://schemas.microsoft.com/office/powerpoint/2010/main" val="2317698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B6B84B-D3BB-463B-B81F-CEAEC55C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5FF"/>
                </a:solidFill>
              </a:defRPr>
            </a:pPr>
            <a:r>
              <a:rPr sz="1200" b="1">
                <a:solidFill>
                  <a:srgbClr val="00D5FF"/>
                </a:solidFill>
              </a:rPr>
              <a:t>MARS PIONEER | 初一航天机器人课程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84B72-588D-4C77-B86C-6BFF7945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6FF"/>
                </a:solidFill>
              </a:defRPr>
            </a:pPr>
            <a:r>
              <a:rPr sz="3000" b="1">
                <a:solidFill>
                  <a:srgbClr val="EEF6FF"/>
                </a:solidFill>
              </a:rPr>
              <a:t>第四章：综合实战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1CA7B-3A9B-445D-8395-12DE6C9A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2C5"/>
                </a:solidFill>
              </a:defRPr>
            </a:pPr>
            <a:r>
              <a:rPr sz="1500" b="0">
                <a:solidFill>
                  <a:srgbClr val="9FB2C5"/>
                </a:solidFill>
              </a:rPr>
              <a:t>把底盘、机械臂、传感器和策略合成完整任务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6DDCA1-F3DB-468E-8AF8-83BB1B85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34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9509D-861D-45E3-9D42-761CD8BB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7"/>
                </a:solidFill>
              </a:defRPr>
            </a:pPr>
            <a:r>
              <a:rPr sz="975" b="0">
                <a:solidFill>
                  <a:srgbClr val="647487"/>
                </a:solidFill>
              </a:rPr>
              <a:t>火星先锋课程大纲 ·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547FF-3EB3-4B20-B9FC-8261715A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3812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5B58E-7A28-4831-84DC-B36DBAC00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D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2CB197-55CF-45A8-A3DD-C841A1B6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L10 能源抢夺战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5A80C-BAA4-4E2E-9B0E-24AFF0FB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自动导航到能源区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手动抢夺与装载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记录任务耗时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7C67D-395E-4D1F-AE50-61CB7F77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23812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385128-28CF-43E5-9B32-0F9561AD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6F"/>
          </a:solidFill>
          <a:ln xmlns:a="http://schemas.openxmlformats.org/drawingml/2006/main" w="0">
            <a:solidFill>
              <a:srgbClr val="2ED6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C56939-1C98-4F47-B21F-B7535D29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L11 陨石坑越野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DCFD0-0B2C-491C-86CC-83FF1324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860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调节PWM功率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设计脱困策略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测试崎岖路况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103EF-0FCA-48EB-AA2E-923F0846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33600"/>
            <a:ext cx="23812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E5D1F-9489-4FD6-B2B6-BD3DFC4D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336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BF121-A384-4AD5-960A-ACE513A3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L12 基地运输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568BB4-2177-4A57-9420-4692C70E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860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起点装载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循迹行驶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定点投放与返航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7ECD38-04BD-4A20-B63F-DDF77D1D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33600"/>
            <a:ext cx="2381250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CE2AA9-A422-43C1-B34C-580BE5E9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3360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D5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90F88B-A9F7-4075-AAED-49EDBCD4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05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L13 故障排查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777FA7-28E1-40BD-AF29-3ABE45BE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86050"/>
            <a:ext cx="2000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断线、参数、逻辑故障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用日志和二分法定位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完成故障报告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38C15C-1AA2-463E-860A-A64A7613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0535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EF6FF"/>
                </a:solidFill>
              </a:defRPr>
            </a:pPr>
            <a:r>
              <a:rPr sz="1875" b="1">
                <a:solidFill>
                  <a:srgbClr val="EEF6FF"/>
                </a:solidFill>
              </a:rPr>
              <a:t>这一章的目标不是“程序一次写对”，而是让学生经历真实工程的测试、失败、修复、再测试。</a:t>
            </a:r>
          </a:p>
        </p:txBody>
      </p:sp>
    </p:spTree>
    <p:extLst>
      <p:ext uri="{BB962C8B-B14F-4D97-AF65-F5344CB8AC3E}">
        <p14:creationId xmlns:p14="http://schemas.microsoft.com/office/powerpoint/2010/main" val="10453769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F12332-4187-4BF3-9158-CD5E0B7E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5FF"/>
                </a:solidFill>
              </a:defRPr>
            </a:pPr>
            <a:r>
              <a:rPr sz="1200" b="1">
                <a:solidFill>
                  <a:srgbClr val="00D5FF"/>
                </a:solidFill>
              </a:rPr>
              <a:t>MARS PIONEER | 初一航天机器人课程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E755F-809D-406E-828A-996585C6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6FF"/>
                </a:solidFill>
              </a:defRPr>
            </a:pPr>
            <a:r>
              <a:rPr sz="3000" b="1">
                <a:solidFill>
                  <a:srgbClr val="EEF6FF"/>
                </a:solidFill>
              </a:rPr>
              <a:t>第五章：模拟赛事与表达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AC364-C03A-4B03-BF9F-E7D576BA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2C5"/>
                </a:solidFill>
              </a:defRPr>
            </a:pPr>
            <a:r>
              <a:rPr sz="1500" b="0">
                <a:solidFill>
                  <a:srgbClr val="9FB2C5"/>
                </a:solidFill>
              </a:rPr>
              <a:t>从会做任务，走向会展示方案、解释数据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41BBC-3D1B-4EDE-BD74-ADDB175D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34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EF3A2-E1CA-4967-89CC-BC632349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7"/>
                </a:solidFill>
              </a:defRPr>
            </a:pPr>
            <a:r>
              <a:rPr sz="975" b="0">
                <a:solidFill>
                  <a:srgbClr val="647487"/>
                </a:solidFill>
              </a:rPr>
              <a:t>火星先锋课程大纲 ·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0E0D2-6C40-4278-B770-78C166ED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2862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AA735F-1456-49CB-848D-414DF584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F28671-319B-4DF3-8D96-05830931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L14 全真模拟计时赛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3CB4DE-E27C-4CFE-A135-63AA560F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62250"/>
            <a:ext cx="3905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对标航天主题赛事规则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完成赛前检查、3分钟计时任务、裁判评分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赛后用录像复盘失误点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C477C-3951-4242-AF40-51FC372B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4286250" cy="20002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6255F9-5C95-4DBB-B095-135D59A4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D5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38A995-21CA-461D-B7A6-70FD44AE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812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L15 工程日志与路演答辩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93A931-3FFC-4DF2-BC5A-39782A87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762250"/>
            <a:ext cx="39052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整理学习记录和实验数据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制作5分钟项目展示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回答硬件、算法、风险相关问题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C39D8-8EA4-412D-BA01-3D0FAFC5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EEF6FF"/>
                </a:solidFill>
              </a:defRPr>
            </a:pPr>
            <a:r>
              <a:rPr sz="1950" b="1">
                <a:solidFill>
                  <a:srgbClr val="EEF6FF"/>
                </a:solidFill>
              </a:rPr>
              <a:t>最终成果：一台能执行任务的火星漫游车 + 一份能讲清楚设计逻辑的学生项目汇报。</a:t>
            </a:r>
          </a:p>
        </p:txBody>
      </p:sp>
    </p:spTree>
    <p:extLst>
      <p:ext uri="{BB962C8B-B14F-4D97-AF65-F5344CB8AC3E}">
        <p14:creationId xmlns:p14="http://schemas.microsoft.com/office/powerpoint/2010/main" val="9245929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56A585-BDB2-4C83-8486-51084BF5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5FF"/>
                </a:solidFill>
              </a:defRPr>
            </a:pPr>
            <a:r>
              <a:rPr sz="1200" b="1">
                <a:solidFill>
                  <a:srgbClr val="00D5FF"/>
                </a:solidFill>
              </a:rPr>
              <a:t>MARS PIONEER | 初一航天机器人课程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DC8B5-C457-4B46-936D-0118D1C5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6FF"/>
                </a:solidFill>
              </a:defRPr>
            </a:pPr>
            <a:r>
              <a:rPr sz="3000" b="1">
                <a:solidFill>
                  <a:srgbClr val="EEF6FF"/>
                </a:solidFill>
              </a:rPr>
              <a:t>15节课总览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291CF8-6ABA-4822-ACB8-5F41CC24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2C5"/>
                </a:solidFill>
              </a:defRPr>
            </a:pPr>
            <a:r>
              <a:rPr sz="1500" b="0">
                <a:solidFill>
                  <a:srgbClr val="9FB2C5"/>
                </a:solidFill>
              </a:rPr>
              <a:t>每节课都有明确的课堂作品和可观察结果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8AF764-7FB5-44FC-887B-E6505D8C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34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B5AEC-FDDE-4DEC-B3AE-261C608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7"/>
                </a:solidFill>
              </a:defRPr>
            </a:pPr>
            <a:r>
              <a:rPr sz="975" b="0">
                <a:solidFill>
                  <a:srgbClr val="647487"/>
                </a:solidFill>
              </a:rPr>
              <a:t>火星先锋课程大纲 ·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A153B-3F8D-4D7B-9B63-6D3BBB9C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课时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6E825-05C6-4F1E-B130-17B16A47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课程主题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AB3B0-E2C7-4FE8-A4C9-FB69A104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核心学习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2FA92-314B-4400-B795-A2921483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课堂作品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D8D0C-AFF5-42F0-A86F-F6FB66F3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L01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C299F-29DE-4801-9A80-41F9378A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开发环境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BA8B6B-E0DB-4952-8703-21501342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622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LED、GPIO、工程创建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430923-C5E4-4222-8A9F-CC38BB5C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622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流水灯程序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82913-CC4E-4FFA-97E2-647A5EF8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499EE-4A06-4C93-820E-4B67F003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L02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7275A-4D75-49DB-9062-ACD88620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结构显控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7C9173-DCD8-45EB-AF8C-9C8E8D27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IIC、OLED、模块识别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C91D8-76BE-4A3B-82A3-7FE5A642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384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车载仪表盘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4B612-9BE3-4CA1-AC8E-BEB8998B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169E0-609B-40CA-9F47-51E09297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L03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B823C0-E3A6-4E7C-9CE0-BB295D48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全向移动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0AD68D-2514-4A65-858E-57BC2266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147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麦克纳姆轮、PWM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E4ECAF-652C-4D6D-B95D-63E5F2E4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147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正方形路径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5CFCC-45D5-4C7E-AC88-775B0DD6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3D54C4-2554-4245-9BA7-C613FD84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66F"/>
                </a:solidFill>
              </a:defRPr>
            </a:pPr>
            <a:r>
              <a:rPr sz="1350" b="1">
                <a:solidFill>
                  <a:srgbClr val="2ED66F"/>
                </a:solidFill>
              </a:rPr>
              <a:t>L04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751F13-D59C-4416-9795-45E34251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90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遥控通信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4A1DC5-72FB-4BF1-A758-FD85E26C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909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蓝牙、手柄数据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BAFB76-74D9-45C7-8107-67C950EE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909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底盘遥控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6B92F5-E75A-47D5-AE1E-5825E922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C00BA7-9FDB-42B2-8DD9-FDEB2C77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66F"/>
                </a:solidFill>
              </a:defRPr>
            </a:pPr>
            <a:r>
              <a:rPr sz="1350" b="1">
                <a:solidFill>
                  <a:srgbClr val="2ED66F"/>
                </a:solidFill>
              </a:rPr>
              <a:t>L05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1A681F-1EC6-4955-A51D-1E52BAA7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机械臂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59CAB3-4F74-4712-96FB-1789323A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舵机、姿态库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B23DE6-477D-4BC6-A349-C2D5124D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672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连续抓放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C2DE37-5CBD-497D-9951-C2547369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E2584E-7D29-4775-BABC-6CA08003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434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66F"/>
                </a:solidFill>
              </a:defRPr>
            </a:pPr>
            <a:r>
              <a:rPr sz="1350" b="1">
                <a:solidFill>
                  <a:srgbClr val="2ED66F"/>
                </a:solidFill>
              </a:rPr>
              <a:t>L06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90435A-883C-410E-8AF3-0AD85B4C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434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采样协同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3989B9-673F-4831-90AD-598B49AB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7434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底盘+机械臂时序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BF6FD2-FEB3-4644-B6A7-C1D063EF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434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月壤采样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EE3CC9-2AAF-4863-9522-12D6142F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863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595010-6686-4683-AF83-B7784EF3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1F"/>
                </a:solidFill>
              </a:defRPr>
            </a:pPr>
            <a:r>
              <a:rPr sz="1350" b="1">
                <a:solidFill>
                  <a:srgbClr val="FF5A1F"/>
                </a:solidFill>
              </a:rPr>
              <a:t>L07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35D8E6-A361-4E61-98E4-BB6B538A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197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环境监控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90983E-18D9-43F3-B9BB-1D4C697E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197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温湿度、光照、报警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F4DC58-F389-40F6-83C1-AC5C070F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2197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环境面板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F68DA8-5C77-470F-8319-FF444C30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626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02084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56E815-9009-400B-B4B7-60AB814E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5FF"/>
                </a:solidFill>
              </a:defRPr>
            </a:pPr>
            <a:r>
              <a:rPr sz="1200" b="1">
                <a:solidFill>
                  <a:srgbClr val="00D5FF"/>
                </a:solidFill>
              </a:rPr>
              <a:t>MARS PIONEER | 初一航天机器人课程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758F1-E7B5-400C-B534-98F73AA8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6FF"/>
                </a:solidFill>
              </a:defRPr>
            </a:pPr>
            <a:r>
              <a:rPr sz="3000" b="1">
                <a:solidFill>
                  <a:srgbClr val="EEF6FF"/>
                </a:solidFill>
              </a:rPr>
              <a:t>15节课总览（续）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7C7D1-A1FE-482F-97A6-027B8A91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2C5"/>
                </a:solidFill>
              </a:defRPr>
            </a:pPr>
            <a:r>
              <a:rPr sz="1500" b="0">
                <a:solidFill>
                  <a:srgbClr val="9FB2C5"/>
                </a:solidFill>
              </a:rPr>
              <a:t>从感知控制进入综合任务和赛事表达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4D3754-0D0E-4DB6-BBE0-281E7E48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34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109F4-A7F4-4D0E-9750-9F8D9635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7"/>
                </a:solidFill>
              </a:defRPr>
            </a:pPr>
            <a:r>
              <a:rPr sz="975" b="0">
                <a:solidFill>
                  <a:srgbClr val="647487"/>
                </a:solidFill>
              </a:rPr>
              <a:t>火星先锋课程大纲 ·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A1167-9669-47A4-A354-26341A3B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课时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91A3D-9C75-43D8-8F53-BD9B222C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课程主题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49B68-ED5F-4C8C-A762-EB7A610A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核心学习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2DA4A-70B4-46C9-A857-0AC5B3D2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24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课堂作品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5A7D8-288B-48D6-8218-CAAD40D3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1F"/>
                </a:solidFill>
              </a:defRPr>
            </a:pPr>
            <a:r>
              <a:rPr sz="1350" b="1">
                <a:solidFill>
                  <a:srgbClr val="FF5A1F"/>
                </a:solidFill>
              </a:rPr>
              <a:t>L08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4DAF2-CD5F-4EE9-9493-C8249FFC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669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识别巡线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7A61A-DC3F-4277-B133-8DBD785C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颜色/红外、PID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EDAC2-A5CF-48F6-95DF-6493A89A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669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稳定巡线车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E2565-BB73-4618-AE39-30F7E769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23F50-F529-4C46-A2B8-96D1828C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5A1F"/>
                </a:solidFill>
              </a:defRPr>
            </a:pPr>
            <a:r>
              <a:rPr sz="1350" b="1">
                <a:solidFill>
                  <a:srgbClr val="FF5A1F"/>
                </a:solidFill>
              </a:rPr>
              <a:t>L09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EAFA9-8D37-43FE-AAA7-3210C6D6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14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人机切换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DD0C5-32FA-4782-A568-37BE6DEF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状态机、路标识别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42AC97-343C-411F-A31A-A6BD295C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146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自动/手动切换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2ADEC-779D-4BD4-A5EC-5069C4689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B76BE7-8B8B-4B47-BA21-4FA5BD85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L10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C26683-2FC4-43D2-910D-AE610F6C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623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能源抢夺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D67296-DB15-4603-BDAA-467DE6EB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任务分解、路线策略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1813D-DC2D-4492-97D9-75B20953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623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抢夺任务脚本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37E6B1-5045-4BDB-BAFC-90ACF651F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0394F4-B805-45F6-814A-C24BD30D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9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L11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DC5C29-9BC9-44EA-8031-D94B042F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9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陨石坑越野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BC5CB8-030A-4B0C-A934-530D51A4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0997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功率分配、脱困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09015C-58A3-46E2-8C84-9054F94F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099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越野参数组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F2FB92-B20B-416B-A487-2014D91B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5287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40E9D4-620D-4FEA-9975-3DB73968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L12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AC21D4-26DE-4416-93F0-558EBCED7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576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基地运输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0EF088-975F-482A-A09B-512B6D89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5765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动作队列、容错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01BC70-B06B-4728-AD70-844229D5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576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自动运输闭环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90253B-E961-412F-8B3F-4F8DBE5A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401A7B-6331-4AE7-9F8F-3805EE76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0532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D5FF"/>
                </a:solidFill>
              </a:defRPr>
            </a:pPr>
            <a:r>
              <a:rPr sz="1350" b="1">
                <a:solidFill>
                  <a:srgbClr val="00D5FF"/>
                </a:solidFill>
              </a:rPr>
              <a:t>L13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0F8901-35A7-4726-9F27-5171AACC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053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系统Debug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B87B98-5A0A-4F91-863E-02F961AC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0532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日志、二分法、看门狗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0D8231-63E9-4601-90FF-6F8F0B39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5053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故障报告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C0E2C7-3F30-465D-B5CB-CA69ACDA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4822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22BCA0C-DC04-46B7-92D3-4DD97318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66F"/>
                </a:solidFill>
              </a:defRPr>
            </a:pPr>
            <a:r>
              <a:rPr sz="1350" b="1">
                <a:solidFill>
                  <a:srgbClr val="2ED66F"/>
                </a:solidFill>
              </a:rPr>
              <a:t>L14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B3086C-7458-4D12-880B-9E9E8080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模拟计时赛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6936DFF-82BF-4865-8025-78B428D2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53000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规则、计时、评分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470C16-235E-42D4-B4A3-7CDB09C5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正式比赛成绩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9BE239-1E94-40E7-8AAB-79687F28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9FC89A-1ECC-4B94-BC67-B7940B33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006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D66F"/>
                </a:solidFill>
              </a:defRPr>
            </a:pPr>
            <a:r>
              <a:rPr sz="1350" b="1">
                <a:solidFill>
                  <a:srgbClr val="2ED66F"/>
                </a:solidFill>
              </a:rPr>
              <a:t>L15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4A7FBA-9A93-41D8-AF68-12CCE8A4A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00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6FF"/>
                </a:solidFill>
              </a:defRPr>
            </a:pPr>
            <a:r>
              <a:rPr sz="1425" b="1">
                <a:solidFill>
                  <a:srgbClr val="EEF6FF"/>
                </a:solidFill>
              </a:rPr>
              <a:t>路演答辩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6723B3-6F3D-4929-B11A-63C60EBE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00675"/>
            <a:ext cx="385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工程日志、数据展示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7AF5087-4B69-48A8-A659-0CCFF467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4006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FB2C5"/>
                </a:solidFill>
              </a:defRPr>
            </a:pPr>
            <a:r>
              <a:rPr sz="1200" b="0">
                <a:solidFill>
                  <a:srgbClr val="9FB2C5"/>
                </a:solidFill>
              </a:rPr>
              <a:t>5分钟项目汇报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757B6C-8D72-42CA-B955-E75AA149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2635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972179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2C4A77-3C80-4081-A290-16C51F54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5FF"/>
                </a:solidFill>
              </a:defRPr>
            </a:pPr>
            <a:r>
              <a:rPr sz="1200" b="1">
                <a:solidFill>
                  <a:srgbClr val="00D5FF"/>
                </a:solidFill>
              </a:rPr>
              <a:t>MARS PIONEER | 初一航天机器人课程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91382-68FA-4D92-B9ED-C6019B80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6FF"/>
                </a:solidFill>
              </a:defRPr>
            </a:pPr>
            <a:r>
              <a:rPr sz="3000" b="1">
                <a:solidFill>
                  <a:srgbClr val="EEF6FF"/>
                </a:solidFill>
              </a:rPr>
              <a:t>教学组织建议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34AF7B-A7B1-4D26-B3C9-43DC2E60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2C5"/>
                </a:solidFill>
              </a:defRPr>
            </a:pPr>
            <a:r>
              <a:rPr sz="1500" b="0">
                <a:solidFill>
                  <a:srgbClr val="9FB2C5"/>
                </a:solidFill>
              </a:rPr>
              <a:t>让课堂更适合初一学生的节奏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09B64-9983-4D3C-834B-4F6FF9D5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34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F0616-C16F-4205-A4D1-E657B4C8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7"/>
                </a:solidFill>
              </a:defRPr>
            </a:pPr>
            <a:r>
              <a:rPr sz="975" b="0">
                <a:solidFill>
                  <a:srgbClr val="647487"/>
                </a:solidFill>
              </a:rPr>
              <a:t>火星先锋课程大纲 ·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8EB08-3212-44F6-A4B6-67234FEB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3143250" cy="2190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DC6DAA-BE1D-4032-ABE4-A286EA86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5FF"/>
          </a:solidFill>
          <a:ln xmlns:a="http://schemas.openxmlformats.org/drawingml/2006/main" w="0">
            <a:solidFill>
              <a:srgbClr val="00D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81AF87-304F-4C64-9345-77CDDCED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66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小组分工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1A88C-4949-43B8-954B-4B36314D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47950"/>
            <a:ext cx="2762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建议3-4人一组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驾驶员：操作与测试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程序员：代码与调参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工程师：接线与记录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讲解员：整理汇报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C2068-78B0-4FE4-92FB-5341ABB1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143250" cy="2190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61B14-FB33-4496-9A5A-C1D9AA24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D66F"/>
          </a:solidFill>
          <a:ln xmlns:a="http://schemas.openxmlformats.org/drawingml/2006/main" w="0">
            <a:solidFill>
              <a:srgbClr val="2ED66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282E7-9D2D-49CC-BB4C-AAFB5FAA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课堂节奏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59AFE-5913-45E1-BC18-9752D4CD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2762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10分钟情境导入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15分钟知识拆解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25分钟动手任务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10分钟复盘展示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83AB5-07B7-4CE1-AE70-81BD8168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3143250" cy="2190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E1724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976497-E66B-4D6E-973E-C7FD2496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95500"/>
            <a:ext cx="47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A1F"/>
          </a:solidFill>
          <a:ln xmlns:a="http://schemas.openxmlformats.org/drawingml/2006/main" w="0">
            <a:solidFill>
              <a:srgbClr val="FF5A1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AE169-C04D-4F3C-9D99-0F84F451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EF6FF"/>
                </a:solidFill>
              </a:defRPr>
            </a:pPr>
            <a:r>
              <a:rPr sz="1725" b="1">
                <a:solidFill>
                  <a:srgbClr val="EEF6FF"/>
                </a:solidFill>
              </a:rPr>
              <a:t>安全与管理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28E91-DC16-4578-80E0-0D0FE0BB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762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上电前检查接线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机械臂运动区不伸手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锂电池规范充放电</a:t>
            </a:r>
          </a:p>
          <a:p xmlns:a="http://schemas.openxmlformats.org/drawingml/2006/main">
            <a:pPr algn="l">
              <a:defRPr sz="1275" b="0">
                <a:solidFill>
                  <a:srgbClr val="9FB2C5"/>
                </a:solidFill>
              </a:defRPr>
            </a:pPr>
            <a:r>
              <a:rPr sz="1275" b="0">
                <a:solidFill>
                  <a:srgbClr val="9FB2C5"/>
                </a:solidFill>
              </a:rPr>
              <a:t>每节课保留工程日志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8068C-F51B-40DC-9093-6EF25D8E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53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EF6FF"/>
                </a:solidFill>
              </a:defRPr>
            </a:pPr>
            <a:r>
              <a:rPr sz="1875" b="1">
                <a:solidFill>
                  <a:srgbClr val="EEF6FF"/>
                </a:solidFill>
              </a:rPr>
              <a:t>教师重点：不要只看“有没有跑起来”，更要看学生是否能解释为什么这样设计。</a:t>
            </a:r>
          </a:p>
        </p:txBody>
      </p:sp>
    </p:spTree>
    <p:extLst>
      <p:ext uri="{BB962C8B-B14F-4D97-AF65-F5344CB8AC3E}">
        <p14:creationId xmlns:p14="http://schemas.microsoft.com/office/powerpoint/2010/main" val="5991655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35BC51-8739-40A9-B912-ECB3DDC0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D5FF"/>
                </a:solidFill>
              </a:defRPr>
            </a:pPr>
            <a:r>
              <a:rPr sz="1200" b="1">
                <a:solidFill>
                  <a:srgbClr val="00D5FF"/>
                </a:solidFill>
              </a:rPr>
              <a:t>MARS PIONEER | 初一航天机器人课程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A62B2-6568-433B-BCEF-ACA1FA91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EEF6FF"/>
                </a:solidFill>
              </a:defRPr>
            </a:pPr>
            <a:r>
              <a:rPr sz="3000" b="1">
                <a:solidFill>
                  <a:srgbClr val="EEF6FF"/>
                </a:solidFill>
              </a:rPr>
              <a:t>评价方式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AB28D-5F1F-47F6-A754-178A703A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954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FB2C5"/>
                </a:solidFill>
              </a:defRPr>
            </a:pPr>
            <a:r>
              <a:rPr sz="1500" b="0">
                <a:solidFill>
                  <a:srgbClr val="9FB2C5"/>
                </a:solidFill>
              </a:rPr>
              <a:t>用过程性证据评价工程学习，而不只看最终比赛名次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946E3-02CD-4664-863A-2616703C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D344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5BAB7-8B55-4272-A440-78E1CFC5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19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7"/>
                </a:solidFill>
              </a:defRPr>
            </a:pPr>
            <a:r>
              <a:rPr sz="975" b="0">
                <a:solidFill>
                  <a:srgbClr val="647487"/>
                </a:solidFill>
              </a:rPr>
              <a:t>火星先锋课程大纲 ·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60D38-F7D9-4C24-8A6E-6426E2E0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95500"/>
            <a:ext cx="99822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C2B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6FC104-E545-4ABC-9438-76E2247F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383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F6FF"/>
                </a:solidFill>
              </a:defRPr>
            </a:pPr>
            <a:r>
              <a:rPr sz="1650" b="1">
                <a:solidFill>
                  <a:srgbClr val="EEF6FF"/>
                </a:solidFill>
              </a:rPr>
              <a:t>硬件装调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5E33A9-8963-4CB3-845E-381E0516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574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2C5"/>
                </a:solidFill>
              </a:defRPr>
            </a:pPr>
            <a:r>
              <a:rPr sz="1425" b="0">
                <a:solidFill>
                  <a:srgbClr val="9FB2C5"/>
                </a:solidFill>
              </a:rPr>
              <a:t>模块识别、接线规范、上电自检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715FF8-F121-46E2-9B7F-38A32A22B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2383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D5FF"/>
                </a:solidFill>
              </a:defRPr>
            </a:pPr>
            <a:r>
              <a:rPr sz="1650" b="1">
                <a:solidFill>
                  <a:srgbClr val="00D5FF"/>
                </a:solidFill>
              </a:rPr>
              <a:t>20%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358F7-B09E-4A84-80A3-BAFC2143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99822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C2B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21E49-6F87-43F5-93AE-98A8E2CB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194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F6FF"/>
                </a:solidFill>
              </a:defRPr>
            </a:pPr>
            <a:r>
              <a:rPr sz="1650" b="1">
                <a:solidFill>
                  <a:srgbClr val="EEF6FF"/>
                </a:solidFill>
              </a:rPr>
              <a:t>程序实现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010D8-E405-4C97-BCF3-259F3E65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384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2C5"/>
                </a:solidFill>
              </a:defRPr>
            </a:pPr>
            <a:r>
              <a:rPr sz="1425" b="0">
                <a:solidFill>
                  <a:srgbClr val="9FB2C5"/>
                </a:solidFill>
              </a:rPr>
              <a:t>功能完整、代码结构、调试记录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C9E61-658B-4790-BCCE-4201B6169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194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ED66F"/>
                </a:solidFill>
              </a:defRPr>
            </a:pPr>
            <a:r>
              <a:rPr sz="1650" b="1">
                <a:solidFill>
                  <a:srgbClr val="2ED66F"/>
                </a:solidFill>
              </a:rPr>
              <a:t>30%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33A25E-9CC9-4FD9-A79B-54FCE7CD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99822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C2B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F9476-3717-4E42-BEC4-3C34AB61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004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F6FF"/>
                </a:solidFill>
              </a:defRPr>
            </a:pPr>
            <a:r>
              <a:rPr sz="1650" b="1">
                <a:solidFill>
                  <a:srgbClr val="EEF6FF"/>
                </a:solidFill>
              </a:rPr>
              <a:t>任务表现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C5659-45E2-45C9-8D85-836933D6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95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2C5"/>
                </a:solidFill>
              </a:defRPr>
            </a:pPr>
            <a:r>
              <a:rPr sz="1425" b="0">
                <a:solidFill>
                  <a:srgbClr val="9FB2C5"/>
                </a:solidFill>
              </a:rPr>
              <a:t>巡线、抓取、运输、赛事得分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21557-804A-46A3-87CE-04F434190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004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00D5FF"/>
                </a:solidFill>
              </a:defRPr>
            </a:pPr>
            <a:r>
              <a:rPr sz="1650" b="1">
                <a:solidFill>
                  <a:srgbClr val="00D5FF"/>
                </a:solidFill>
              </a:rPr>
              <a:t>25%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B1B00-FD8F-4792-92DC-CB9F7A02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998220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11C2B"/>
          </a:solidFill>
          <a:ln xmlns:a="http://schemas.openxmlformats.org/drawingml/2006/main" w="9525">
            <a:solidFill>
              <a:srgbClr val="1D344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AF444-A3DF-4EC2-8B46-5AF8CF9C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815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F6FF"/>
                </a:solidFill>
              </a:defRPr>
            </a:pPr>
            <a:r>
              <a:rPr sz="1650" b="1">
                <a:solidFill>
                  <a:srgbClr val="EEF6FF"/>
                </a:solidFill>
              </a:rPr>
              <a:t>工程表达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AD2DF-44E4-489D-B9EE-C01DB3D5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005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2C5"/>
                </a:solidFill>
              </a:defRPr>
            </a:pPr>
            <a:r>
              <a:rPr sz="1425" b="0">
                <a:solidFill>
                  <a:srgbClr val="9FB2C5"/>
                </a:solidFill>
              </a:rPr>
              <a:t>日志、数据、复盘、答辩表现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C0477-80A3-4EE4-B1F0-C73ACD0F6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58152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ED66F"/>
                </a:solidFill>
              </a:defRPr>
            </a:pPr>
            <a:r>
              <a:rPr sz="1650" b="1">
                <a:solidFill>
                  <a:srgbClr val="2ED66F"/>
                </a:solidFill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906664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20cc7eca045e2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08CBD-B21E-41D5-8FB7-D4FC5F12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11">
              <a:alpha val="66667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A1789-EBA6-46CA-99FA-87FC605B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47750"/>
            <a:ext cx="571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EEF6FF"/>
                </a:solidFill>
              </a:defRPr>
            </a:pPr>
            <a:r>
              <a:rPr sz="3450" b="1">
                <a:solidFill>
                  <a:srgbClr val="EEF6FF"/>
                </a:solidFill>
              </a:rPr>
              <a:t>课程最终画像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C12AE-F307-4C90-9A52-970B8C30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6762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EF6FF"/>
                </a:solidFill>
              </a:defRPr>
            </a:pPr>
            <a:r>
              <a:rPr sz="2100" b="0">
                <a:solidFill>
                  <a:srgbClr val="EEF6FF"/>
                </a:solidFill>
              </a:rPr>
              <a:t>学生不只是“拼好一辆车”，而是能用工程语言说明：它如何移动、如何感知、如何决策、如何完成一次火星任务。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DC6AB-6AAA-44F7-81FB-2C56F02E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D5FF"/>
                </a:solidFill>
              </a:defRPr>
            </a:pPr>
            <a:r>
              <a:rPr sz="1650" b="0">
                <a:solidFill>
                  <a:srgbClr val="00D5FF"/>
                </a:solidFill>
              </a:rPr>
              <a:t>建议交付：学生工程日志、任务演示视频、课堂代码包、5分钟项目路演PPT。</a:t>
            </a:r>
          </a:p>
        </p:txBody>
      </p:sp>
    </p:spTree>
    <p:extLst>
      <p:ext uri="{BB962C8B-B14F-4D97-AF65-F5344CB8AC3E}">
        <p14:creationId xmlns:p14="http://schemas.microsoft.com/office/powerpoint/2010/main" val="682570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2026-06-25T04:00:16.2980000Z</dcterms:created>
  <dcterms:modified xsi:type="dcterms:W3CDTF">2026-06-25T04:00:16.2980000Z</dcterms:modified>
</coreProperties>
</file>